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TopBar"/>
          <p:cNvSpPr/>
          <p:nvPr userDrawn="1"/>
        </p:nvSpPr>
        <p:spPr>
          <a:xfrm>
            <a:off x="0" y="0"/>
            <a:ext cx="9906000" cy="200742"/>
          </a:xfrm>
          <a:prstGeom prst="rect">
            <a:avLst/>
          </a:prstGeom>
          <a:solidFill>
            <a:srgbClr val="112C4B"/>
          </a:solidFill>
          <a:ln>
            <a:noFill/>
          </a:ln>
        </p:spPr>
      </p:sp>
      <p:sp>
        <p:nvSpPr>
          <p:cNvPr id="91" name="Rule"/>
          <p:cNvSpPr/>
          <p:nvPr userDrawn="1"/>
        </p:nvSpPr>
        <p:spPr>
          <a:xfrm>
            <a:off x="0" y="876676"/>
            <a:ext cx="9906000" cy="11773"/>
          </a:xfrm>
          <a:prstGeom prst="rect">
            <a:avLst/>
          </a:prstGeom>
          <a:solidFill>
            <a:srgbClr val="112C4B"/>
          </a:solidFill>
          <a:ln>
            <a:noFill/>
          </a:ln>
        </p:spPr>
      </p:sp>
      <p:sp>
        <p:nvSpPr>
          <p:cNvPr id="92" name="Conf"/>
          <p:cNvSpPr txBox="1"/>
          <p:nvPr userDrawn="1"/>
        </p:nvSpPr>
        <p:spPr>
          <a:xfrm>
            <a:off x="7234238" y="419239"/>
            <a:ext cx="1600000" cy="2463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CONFIDENTIAL (fixture)</a:t>
            </a:r>
          </a:p>
        </p:txBody>
      </p:sp>
      <p:sp>
        <p:nvSpPr>
          <p:cNvPr id="92" name="PH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5153" y="265978"/>
            <a:ext cx="7000000" cy="551476"/>
          </a:xfrm>
        </p:spPr>
        <p:txBody>
          <a:bodyPr anchor="ctr"/>
          <a:lstStyle>
            <a:lvl1pPr marL="0" indent="0">
              <a:buNone/>
            </a:lvl1pPr>
          </a:lstStyle>
          <a:p>
            <a:r>
              <a:rPr lang="ja-JP"/>
              <a:t>タイトル</a:t>
            </a:r>
          </a:p>
        </p:txBody>
      </p:sp>
      <p:sp>
        <p:nvSpPr>
          <p:cNvPr id="93" name="PH 13"/>
          <p:cNvSpPr>
            <a:spLocks noGrp="1"/>
          </p:cNvSpPr>
          <p:nvPr>
            <p:ph type="body" sz="quarter" idx="13" hasCustomPrompt="1"/>
          </p:nvPr>
        </p:nvSpPr>
        <p:spPr>
          <a:xfrm>
            <a:off x="125153" y="1087316"/>
            <a:ext cx="9655692" cy="467158"/>
          </a:xfrm>
        </p:spPr>
        <p:txBody>
          <a:bodyPr anchor="ctr"/>
          <a:lstStyle>
            <a:lvl1pPr marL="0" indent="0">
              <a:buNone/>
            </a:lvl1pPr>
          </a:lstStyle>
          <a:p>
            <a:r>
              <a:rPr lang="ja-JP"/>
              <a:t>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7975" y="865922"/>
            <a:ext cx="7195004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サンプル食品株式</a:t>
            </a:r>
            <a:r>
              <a:rPr sz="1600" b="1"/>
              <a:t>会社　御中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2750" y="3034903"/>
            <a:ext cx="7680487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サンプル容器外観検査（アドオン）</a:t>
            </a:r>
          </a:p>
          <a:p>
            <a:r>
              <a:rPr sz="2000" b="1"/>
              <a:t>ご提案書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0000" y="5200000"/>
            <a:ext cx="36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/>
              <a:t>2026年1月1日</a:t>
            </a:r>
          </a:p>
          <a:p>
            <a:r>
              <a:rPr sz="1100" b="0"/>
              <a:t>株式会社</a:t>
            </a:r>
            <a:r>
              <a:rPr sz="1100" b="0"/>
              <a:t>VRAIN Solution</a:t>
            </a:r>
          </a:p>
          <a:p>
            <a:r>
              <a:rPr sz="1100" b="0"/>
              <a:t>ソリューション事業部</a:t>
            </a:r>
          </a:p>
          <a:p>
            <a:r>
              <a:rPr sz="1100" b="0"/>
              <a:t>担当 太郎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3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5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Ⅰ.</a:t>
            </a:r>
            <a:r>
              <a:rPr sz="1400" b="1"/>
              <a:t>現状のご状況と課題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23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Ⅱ.</a:t>
            </a:r>
            <a:r>
              <a:rPr sz="1400" b="1"/>
              <a:t>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31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Ⅲ.</a:t>
            </a:r>
            <a:r>
              <a:rPr sz="1400" b="1"/>
              <a:t>ご検討にあたっての比較観点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" y="39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Ⅳ.</a:t>
            </a:r>
            <a:r>
              <a:rPr sz="1400" b="1"/>
              <a:t>検証結果（再掲）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47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Ⅴ</a:t>
            </a:r>
            <a:r>
              <a:rPr sz="1400" b="1"/>
              <a:t>.</a:t>
            </a:r>
            <a:r>
              <a:rPr sz="1400" b="1"/>
              <a:t>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2700000"/>
            <a:ext cx="7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Ⅰ.</a:t>
            </a:r>
            <a:r>
              <a:rPr sz="2000" b="1"/>
              <a:t>現状のご状況と課題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前案件の本編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2700000"/>
            <a:ext cx="7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Ⅱ.</a:t>
            </a:r>
            <a:r>
              <a:rPr sz="2000" b="1"/>
              <a:t>ご提案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前案件の本編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前案件の本編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2700000"/>
            <a:ext cx="7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Ⅲ.</a:t>
            </a:r>
            <a:r>
              <a:rPr sz="2000" b="1"/>
              <a:t>ご検討にあたっての比較観点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前案件の本編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前案件の本編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2700000"/>
            <a:ext cx="7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Ⅳ.</a:t>
            </a:r>
            <a:r>
              <a:rPr sz="2000" b="1"/>
              <a:t>検証結果（再掲）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12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13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14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15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16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17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18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19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20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21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22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23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24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前案件の検証結果 25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0000" y="2700000"/>
            <a:ext cx="7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Ⅴ</a:t>
            </a:r>
            <a:r>
              <a:rPr sz="2000" b="1"/>
              <a:t>.</a:t>
            </a:r>
            <a:r>
              <a:rPr sz="2000" b="1"/>
              <a:t> 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27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28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29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30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31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32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33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34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35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36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37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38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3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会社紹介 39</a:t>
            </a:r>
          </a:p>
        </p:txBody>
      </p:sp>
      <p:pic>
        <p:nvPicPr>
          <p:cNvPr id="3" name="Picture 2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